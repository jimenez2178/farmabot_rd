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jpe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2.png"/><Relationship Id="rId7" Type="http://schemas.openxmlformats.org/officeDocument/2006/relationships/image" Target="../media/image-3-3.png"/><Relationship Id="rId8" Type="http://schemas.openxmlformats.org/officeDocument/2006/relationships/image" Target="../media/image-3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4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59371a8099ab52388cf58c340c5a65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gen-dedup-021488c05b7b009017db3097df514a8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524305" y="0"/>
            <a:ext cx="38405" cy="10287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811305" y="2286000"/>
            <a:ext cx="4762195" cy="5715000"/>
          </a:xfrm>
          <a:prstGeom prst="roundRect">
            <a:avLst>
              <a:gd name="adj" fmla="val 601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2380062" y="5738774"/>
            <a:ext cx="363108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24/7 Sin Pausas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12667183" y="6129223"/>
            <a:ext cx="3048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 inteligente para dueños de farmacias independientes en RD.</a:t>
            </a:r>
            <a:endParaRPr lang="en-US" sz="1300" dirty="0"/>
          </a:p>
        </p:txBody>
      </p:sp>
      <p:pic>
        <p:nvPicPr>
          <p:cNvPr id="9" name="Image 2" descr="gen-dedup-4d4d75f52616ca378a47956f4d00b3fe.png">    </p:cNvPr>
          <p:cNvPicPr>
            <a:picLocks noChangeAspect="1"/>
          </p:cNvPicPr>
          <p:nvPr/>
        </p:nvPicPr>
        <p:blipFill>
          <a:blip r:embed="rId3">
            <a:alphaModFix amt="66000"/>
          </a:blip>
          <a:srcRect l="0" r="0" t="0" b="0"/>
          <a:stretch/>
        </p:blipFill>
        <p:spPr>
          <a:xfrm>
            <a:off x="13378586" y="3686861"/>
            <a:ext cx="1762963" cy="1762963"/>
          </a:xfrm>
          <a:prstGeom prst="rect">
            <a:avLst/>
          </a:prstGeom>
        </p:spPr>
      </p:pic>
      <p:pic>
        <p:nvPicPr>
          <p:cNvPr id="10" name="Image 3" descr="gen-dedup-91f1aa199e689291b7bd9b2c76248cb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716000" y="4024274"/>
            <a:ext cx="952805" cy="952805"/>
          </a:xfrm>
          <a:prstGeom prst="rect">
            <a:avLst/>
          </a:prstGeom>
        </p:spPr>
      </p:pic>
      <p:pic>
        <p:nvPicPr>
          <p:cNvPr id="11" name="Image 4" descr="gen-dedup-6d01e2857dc2e17de7ee4120f099bf3d.jpg">    </p:cNvPr>
          <p:cNvPicPr>
            <a:picLocks noChangeAspect="1"/>
          </p:cNvPicPr>
          <p:nvPr/>
        </p:nvPicPr>
        <p:blipFill>
          <a:blip r:embed="rId5"/>
          <a:srcRect l="-221" r="-221" t="0" b="0"/>
          <a:stretch/>
        </p:blipFill>
        <p:spPr>
          <a:xfrm>
            <a:off x="2095805" y="952805"/>
            <a:ext cx="1591056" cy="5715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2095805" y="4582973"/>
            <a:ext cx="9144000" cy="1057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FarmaBot RD</a:t>
            </a:r>
            <a:endParaRPr lang="en-US" sz="7200" dirty="0"/>
          </a:p>
        </p:txBody>
      </p:sp>
      <p:sp>
        <p:nvSpPr>
          <p:cNvPr id="13" name="Text 6"/>
          <p:cNvSpPr txBox="1"/>
          <p:nvPr/>
        </p:nvSpPr>
        <p:spPr>
          <a:xfrm>
            <a:off x="2095805" y="5863133"/>
            <a:ext cx="974659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farmacia atiende sola, </a:t>
            </a:r>
            <a:pPr algn="l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 de noche</a:t>
            </a:r>
            <a:pPr algn="l" indent="0" marL="0">
              <a:buNone/>
            </a:pPr>
            <a:r>
              <a:rPr lang="en-US" sz="28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800" dirty="0"/>
          </a:p>
        </p:txBody>
      </p:sp>
      <p:pic>
        <p:nvPicPr>
          <p:cNvPr id="14" name="Image 5" descr="gen-dedup-8f3fa57d1be90b17c8cca6236fb73b93.png">    </p:cNvPr>
          <p:cNvPicPr>
            <a:picLocks noChangeAspect="1"/>
          </p:cNvPicPr>
          <p:nvPr/>
        </p:nvPicPr>
        <p:blipFill>
          <a:blip r:embed="rId6"/>
          <a:srcRect l="-404" r="-404" t="0" b="0"/>
          <a:stretch/>
        </p:blipFill>
        <p:spPr>
          <a:xfrm>
            <a:off x="2095805" y="6751015"/>
            <a:ext cx="1143000" cy="28346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2095805" y="3888029"/>
            <a:ext cx="4162349" cy="409651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2095805" y="3888029"/>
            <a:ext cx="4163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01600" rIns="228600" bIns="101600" rtlCol="0" anchor="ctr"/>
          <a:lstStyle/>
          <a:p>
            <a:pPr algn="ctr" indent="0" marL="0">
              <a:buNone/>
            </a:pPr>
            <a:r>
              <a:rPr lang="en-US" sz="1300" b="1" spc="203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FARMACÉUTICA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11811305" y="8953805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60" kern="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PRODUCIDO POR </a:t>
            </a:r>
            <a:pPr algn="r" indent="0" marL="0">
              <a:buNone/>
            </a:pPr>
            <a:r>
              <a:rPr lang="en-US" sz="1200" b="1" spc="60" kern="0" dirty="0">
                <a:solidFill>
                  <a:srgbClr val="34D399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EDUNEX PLUS</a:t>
            </a:r>
            <a:pPr algn="r" indent="0" marL="0">
              <a:buNone/>
            </a:pPr>
            <a:r>
              <a:rPr lang="en-US" sz="1200" spc="60" kern="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e6fb1fcc44eb21328d98dc57a5cb9b4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gen-dedup-9751d2f823b5349aec185ab70c017500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7239305" y="1714500"/>
            <a:ext cx="9905695" cy="17337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77302" y="2057400"/>
            <a:ext cx="666598" cy="666598"/>
          </a:xfrm>
          <a:prstGeom prst="roundRect">
            <a:avLst>
              <a:gd name="adj" fmla="val 171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101ab58ba4d7c1adc4cf05c7bffee09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39151" y="2219249"/>
            <a:ext cx="342900" cy="342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77656" y="2057400"/>
            <a:ext cx="8077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Silencio en WhatsApp</a:t>
            </a:r>
            <a:endParaRPr lang="en-US" sz="2100" dirty="0"/>
          </a:p>
        </p:txBody>
      </p:sp>
      <p:sp>
        <p:nvSpPr>
          <p:cNvPr id="9" name="Text 4"/>
          <p:cNvSpPr txBox="1"/>
          <p:nvPr/>
        </p:nvSpPr>
        <p:spPr>
          <a:xfrm>
            <a:off x="8677656" y="2476195"/>
            <a:ext cx="80778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que preguntan precio por WhatsApp y no reciben respuesta rápida terminan comprando en la gran cadena que sí responde de inmediato.</a:t>
            </a:r>
            <a:endParaRPr lang="en-US" sz="1600" dirty="0"/>
          </a:p>
        </p:txBody>
      </p:sp>
      <p:pic>
        <p:nvPicPr>
          <p:cNvPr id="10" name="Image 3" descr="gen-dedup-9751d2f823b5349aec185ab70c017500.png">    </p:cNvPr>
          <p:cNvPicPr>
            <a:picLocks noChangeAspect="1"/>
          </p:cNvPicPr>
          <p:nvPr/>
        </p:nvPicPr>
        <p:blipFill>
          <a:blip r:embed="rId4"/>
          <a:srcRect l="0" r="0" t="-6" b="-6"/>
          <a:stretch/>
        </p:blipFill>
        <p:spPr>
          <a:xfrm>
            <a:off x="7239305" y="3733495"/>
            <a:ext cx="9905695" cy="17337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677302" y="4076395"/>
            <a:ext cx="666598" cy="666598"/>
          </a:xfrm>
          <a:prstGeom prst="roundRect">
            <a:avLst>
              <a:gd name="adj" fmla="val 171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 descr="gen-dedup-48e000a71d950c85455b97879091c2f6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39151" y="4238244"/>
            <a:ext cx="342900" cy="3429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677656" y="4076395"/>
            <a:ext cx="8077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Abandono de Tratamientos</a:t>
            </a:r>
            <a:endParaRPr lang="en-US" sz="2100" dirty="0"/>
          </a:p>
        </p:txBody>
      </p:sp>
      <p:sp>
        <p:nvSpPr>
          <p:cNvPr id="14" name="Text 7"/>
          <p:cNvSpPr txBox="1"/>
          <p:nvPr/>
        </p:nvSpPr>
        <p:spPr>
          <a:xfrm>
            <a:off x="8677656" y="4496105"/>
            <a:ext cx="80778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Pacientes con tratamientos recurrentes dejan de comprar porque no tienen un recordatorio activo para el reabastecimiento de sus medicamentos.</a:t>
            </a:r>
            <a:endParaRPr lang="en-US" sz="1600" dirty="0"/>
          </a:p>
        </p:txBody>
      </p:sp>
      <p:pic>
        <p:nvPicPr>
          <p:cNvPr id="15" name="Image 5" descr="gen-dedup-9751d2f823b5349aec185ab70c017500.png">    </p:cNvPr>
          <p:cNvPicPr>
            <a:picLocks noChangeAspect="1"/>
          </p:cNvPicPr>
          <p:nvPr/>
        </p:nvPicPr>
        <p:blipFill>
          <a:blip r:embed="rId6"/>
          <a:srcRect l="0" r="0" t="-6" b="-6"/>
          <a:stretch/>
        </p:blipFill>
        <p:spPr>
          <a:xfrm>
            <a:off x="7239305" y="5753405"/>
            <a:ext cx="9905695" cy="173370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677302" y="6096305"/>
            <a:ext cx="666598" cy="666598"/>
          </a:xfrm>
          <a:prstGeom prst="roundRect">
            <a:avLst>
              <a:gd name="adj" fmla="val 171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6" descr="gen-dedup-e9ea81d78e52684bd918f33ab2d2ac94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839151" y="6258154"/>
            <a:ext cx="342900" cy="3429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677656" y="6096305"/>
            <a:ext cx="8077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Colapso en el Mostrador</a:t>
            </a:r>
            <a:endParaRPr lang="en-US" sz="2100" dirty="0"/>
          </a:p>
        </p:txBody>
      </p:sp>
      <p:sp>
        <p:nvSpPr>
          <p:cNvPr id="19" name="Text 10"/>
          <p:cNvSpPr txBox="1"/>
          <p:nvPr/>
        </p:nvSpPr>
        <p:spPr>
          <a:xfrm>
            <a:off x="8677656" y="6515100"/>
            <a:ext cx="80778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personal físico atiende a los clientes presenciales mientras el teléfono y el chat siguen sonando de forma incesante sin poder ser respondidos.</a:t>
            </a:r>
            <a:endParaRPr lang="en-US" sz="1600" dirty="0"/>
          </a:p>
        </p:txBody>
      </p:sp>
      <p:pic>
        <p:nvPicPr>
          <p:cNvPr id="20" name="Image 7" descr="gen-dedup-5ed8ebc406f5a4a0e687ad81d66a34aa.jpg">    </p:cNvPr>
          <p:cNvPicPr>
            <a:picLocks noChangeAspect="1"/>
          </p:cNvPicPr>
          <p:nvPr/>
        </p:nvPicPr>
        <p:blipFill>
          <a:blip r:embed="rId8"/>
          <a:srcRect l="-136" r="-136" t="0" b="0"/>
          <a:stretch/>
        </p:blipFill>
        <p:spPr>
          <a:xfrm>
            <a:off x="15824606" y="761695"/>
            <a:ext cx="1324051" cy="476402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143000" y="2381098"/>
            <a:ext cx="533461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0A24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Cada día pierdes ventas sin saberlo</a:t>
            </a:r>
            <a:endParaRPr lang="en-US" sz="5100" dirty="0"/>
          </a:p>
        </p:txBody>
      </p:sp>
      <p:sp>
        <p:nvSpPr>
          <p:cNvPr id="22" name="Text 12"/>
          <p:cNvSpPr txBox="1"/>
          <p:nvPr/>
        </p:nvSpPr>
        <p:spPr>
          <a:xfrm>
            <a:off x="1143000" y="4175150"/>
            <a:ext cx="5334610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atención manual limita el crecimiento de tu farmacia. Los clientes exigen inmediatez que el personal físico no siempre puede dar.</a:t>
            </a:r>
            <a:endParaRPr lang="en-US" sz="1900" dirty="0"/>
          </a:p>
        </p:txBody>
      </p:sp>
      <p:pic>
        <p:nvPicPr>
          <p:cNvPr id="23" name="Image 8" descr="gen-dedup-d2099606d42d2d0e856665900dd481f4.png">    </p:cNvPr>
          <p:cNvPicPr>
            <a:picLocks noChangeAspect="1"/>
          </p:cNvPicPr>
          <p:nvPr/>
        </p:nvPicPr>
        <p:blipFill>
          <a:blip r:embed="rId9"/>
          <a:srcRect l="-77" r="-77" t="0" b="0"/>
          <a:stretch/>
        </p:blipFill>
        <p:spPr>
          <a:xfrm>
            <a:off x="1143000" y="8477402"/>
            <a:ext cx="5333695" cy="95098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1143000" y="1714500"/>
            <a:ext cx="3562502" cy="381305"/>
          </a:xfrm>
          <a:prstGeom prst="roundRect">
            <a:avLst>
              <a:gd name="adj" fmla="val 4988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1143000" y="1714500"/>
            <a:ext cx="35625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01600" rIns="228600" bIns="101600" rtlCol="0" anchor="ctr"/>
          <a:lstStyle/>
          <a:p>
            <a:pPr algn="ctr" indent="0" marL="0">
              <a:buNone/>
            </a:pPr>
            <a:r>
              <a:rPr lang="en-US" sz="1200" b="1" spc="180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REALIDAD EN EL MOSTRADOR</a:t>
            </a:r>
            <a:endParaRPr lang="en-US" sz="1200" dirty="0"/>
          </a:p>
        </p:txBody>
      </p:sp>
      <p:sp>
        <p:nvSpPr>
          <p:cNvPr id="26" name="Text 15"/>
          <p:cNvSpPr txBox="1"/>
          <p:nvPr/>
        </p:nvSpPr>
        <p:spPr>
          <a:xfrm>
            <a:off x="1143000" y="9144000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</a:t>
            </a:r>
            <a:pPr algn="l" indent="0" marL="0">
              <a:buNone/>
            </a:pPr>
            <a:r>
              <a:rPr lang="en-US" sz="1200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PROBLEMA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94c1d1f4bff61fa62a0ecef129ddcf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gen-dedup-fae955fbd0e3f5de10ae71d78720d625.png">    </p:cNvPr>
          <p:cNvPicPr>
            <a:picLocks noChangeAspect="1"/>
          </p:cNvPicPr>
          <p:nvPr/>
        </p:nvPicPr>
        <p:blipFill>
          <a:blip r:embed="rId2"/>
          <a:srcRect l="-8" r="-8" t="0" b="0"/>
          <a:stretch/>
        </p:blipFill>
        <p:spPr>
          <a:xfrm>
            <a:off x="1143000" y="3619195"/>
            <a:ext cx="5080406" cy="4762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85900" y="4105656"/>
            <a:ext cx="666598" cy="666598"/>
          </a:xfrm>
          <a:prstGeom prst="roundRect">
            <a:avLst>
              <a:gd name="adj" fmla="val 171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b7180e3c1f1241d609859d4e1d4b8d7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47749" y="4267505"/>
            <a:ext cx="342900" cy="342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85900" y="5105095"/>
            <a:ext cx="44010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Atención 24 Horas</a:t>
            </a:r>
            <a:endParaRPr lang="en-US" sz="2100" dirty="0"/>
          </a:p>
        </p:txBody>
      </p:sp>
      <p:sp>
        <p:nvSpPr>
          <p:cNvPr id="9" name="Text 4"/>
          <p:cNvSpPr txBox="1"/>
          <p:nvPr/>
        </p:nvSpPr>
        <p:spPr>
          <a:xfrm>
            <a:off x="1485900" y="5572354"/>
            <a:ext cx="44010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preguntas de disponibilidad de stock y precios de forma inmediata las 24 horas del día, los 7 días de la semana.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485900" y="7763256"/>
            <a:ext cx="44010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6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AUTOMÁTICAS</a:t>
            </a:r>
            <a:endParaRPr lang="en-US" sz="1100" dirty="0"/>
          </a:p>
        </p:txBody>
      </p:sp>
      <p:pic>
        <p:nvPicPr>
          <p:cNvPr id="11" name="Image 3" descr="gen-dedup-093dc0c4f2d706c4dbcf1965de91e472.png">    </p:cNvPr>
          <p:cNvPicPr>
            <a:picLocks noChangeAspect="1"/>
          </p:cNvPicPr>
          <p:nvPr/>
        </p:nvPicPr>
        <p:blipFill>
          <a:blip r:embed="rId4"/>
          <a:srcRect l="-6" r="-6" t="0" b="0"/>
          <a:stretch/>
        </p:blipFill>
        <p:spPr>
          <a:xfrm>
            <a:off x="6603797" y="3619195"/>
            <a:ext cx="5080406" cy="47621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946697" y="4105656"/>
            <a:ext cx="666598" cy="666598"/>
          </a:xfrm>
          <a:prstGeom prst="roundRect">
            <a:avLst>
              <a:gd name="adj" fmla="val 171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gen-dedup-b7180e3c1f1241d609859d4e1d4b8d79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08546" y="4267505"/>
            <a:ext cx="342900" cy="3429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946697" y="5105095"/>
            <a:ext cx="44010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 de Pedidos</a:t>
            </a:r>
            <a:endParaRPr lang="en-US" sz="2100" dirty="0"/>
          </a:p>
        </p:txBody>
      </p:sp>
      <p:sp>
        <p:nvSpPr>
          <p:cNvPr id="15" name="Text 8"/>
          <p:cNvSpPr txBox="1"/>
          <p:nvPr/>
        </p:nvSpPr>
        <p:spPr>
          <a:xfrm>
            <a:off x="6946697" y="5572354"/>
            <a:ext cx="44010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Gestiona pedidos completos por WhatsApp, solicitando datos de entrega para delivery o preparando el pedido para recoger en tienda.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6946697" y="7763256"/>
            <a:ext cx="44010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6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RECOGER O DELIVERY</a:t>
            </a:r>
            <a:endParaRPr lang="en-US" sz="1100" dirty="0"/>
          </a:p>
        </p:txBody>
      </p:sp>
      <p:pic>
        <p:nvPicPr>
          <p:cNvPr id="17" name="Image 5" descr="gen-dedup-fae955fbd0e3f5de10ae71d78720d625.png">    </p:cNvPr>
          <p:cNvPicPr>
            <a:picLocks noChangeAspect="1"/>
          </p:cNvPicPr>
          <p:nvPr/>
        </p:nvPicPr>
        <p:blipFill>
          <a:blip r:embed="rId6"/>
          <a:srcRect l="-8" r="-8" t="0" b="0"/>
          <a:stretch/>
        </p:blipFill>
        <p:spPr>
          <a:xfrm>
            <a:off x="12064594" y="3619195"/>
            <a:ext cx="5080406" cy="476219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2407494" y="4105656"/>
            <a:ext cx="666598" cy="666598"/>
          </a:xfrm>
          <a:prstGeom prst="roundRect">
            <a:avLst>
              <a:gd name="adj" fmla="val 171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6" descr="gen-dedup-b7180e3c1f1241d609859d4e1d4b8d79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570257" y="4267505"/>
            <a:ext cx="342900" cy="3429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407494" y="5105095"/>
            <a:ext cx="44010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Activo</a:t>
            </a:r>
            <a:endParaRPr lang="en-US" sz="2100" dirty="0"/>
          </a:p>
        </p:txBody>
      </p:sp>
      <p:sp>
        <p:nvSpPr>
          <p:cNvPr id="21" name="Text 12"/>
          <p:cNvSpPr txBox="1"/>
          <p:nvPr/>
        </p:nvSpPr>
        <p:spPr>
          <a:xfrm>
            <a:off x="12407494" y="5572354"/>
            <a:ext cx="440100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Recuerda automáticamente a los pacientes recurrentes cuándo deben reabastecerse, asegurando que sigan consumiendo en tu farmacia.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2407494" y="7763256"/>
            <a:ext cx="44010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56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FIDELIZACIÓN RECURRENTE</a:t>
            </a:r>
            <a:endParaRPr lang="en-US" sz="1100" dirty="0"/>
          </a:p>
        </p:txBody>
      </p:sp>
      <p:pic>
        <p:nvPicPr>
          <p:cNvPr id="23" name="Image 7" descr="gen-dedup-5ed8ebc406f5a4a0e687ad81d66a34aa.jpg">    </p:cNvPr>
          <p:cNvPicPr>
            <a:picLocks noChangeAspect="1"/>
          </p:cNvPicPr>
          <p:nvPr/>
        </p:nvPicPr>
        <p:blipFill>
          <a:blip r:embed="rId8"/>
          <a:srcRect l="-136" r="-136" t="0" b="0"/>
          <a:stretch/>
        </p:blipFill>
        <p:spPr>
          <a:xfrm>
            <a:off x="15824606" y="761695"/>
            <a:ext cx="1324051" cy="47640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43000" y="1952244"/>
            <a:ext cx="1333561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A24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asistente que nunca descansa</a:t>
            </a:r>
            <a:endParaRPr lang="en-US" sz="4800" dirty="0"/>
          </a:p>
        </p:txBody>
      </p:sp>
      <p:sp>
        <p:nvSpPr>
          <p:cNvPr id="25" name="Shape 15"/>
          <p:cNvSpPr/>
          <p:nvPr/>
        </p:nvSpPr>
        <p:spPr>
          <a:xfrm>
            <a:off x="1143000" y="1429207"/>
            <a:ext cx="3000146" cy="381305"/>
          </a:xfrm>
          <a:prstGeom prst="roundRect">
            <a:avLst>
              <a:gd name="adj" fmla="val 4988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1143000" y="1429207"/>
            <a:ext cx="3001061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01600" rIns="228600" bIns="101600" rtlCol="0" anchor="ctr"/>
          <a:lstStyle/>
          <a:p>
            <a:pPr algn="ctr" indent="0" marL="0">
              <a:buNone/>
            </a:pPr>
            <a:r>
              <a:rPr lang="en-US" sz="1200" b="1" spc="180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TECNOLOGÍA INTELIGENTE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1143000" y="9144000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</a:t>
            </a:r>
            <a:pPr algn="l" indent="0" marL="0">
              <a:buNone/>
            </a:pPr>
            <a:r>
              <a:rPr lang="en-US" sz="1200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SOLUCIÓN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4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ee904ee7c81e03484e333d2ba5665cb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287000" y="3066898"/>
            <a:ext cx="6858000" cy="1162202"/>
          </a:xfrm>
          <a:prstGeom prst="roundRect">
            <a:avLst>
              <a:gd name="adj" fmla="val 1313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77449" y="3409798"/>
            <a:ext cx="476402" cy="47640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55c7c53d347250f50246419757c4379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91749" y="3524098"/>
            <a:ext cx="247802" cy="2478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9144" y="3488436"/>
            <a:ext cx="360913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contratar personal extra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0287000" y="4562856"/>
            <a:ext cx="6858000" cy="1162202"/>
          </a:xfrm>
          <a:prstGeom prst="roundRect">
            <a:avLst>
              <a:gd name="adj" fmla="val 1313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677449" y="4905756"/>
            <a:ext cx="476402" cy="47640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gen-dedup-55c7c53d347250f50246419757c4379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91749" y="5020056"/>
            <a:ext cx="247802" cy="2478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9144" y="4983480"/>
            <a:ext cx="379476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cambiar tu sistema actual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10287000" y="6057900"/>
            <a:ext cx="6858000" cy="1162202"/>
          </a:xfrm>
          <a:prstGeom prst="roundRect">
            <a:avLst>
              <a:gd name="adj" fmla="val 1313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677449" y="6400800"/>
            <a:ext cx="476402" cy="476402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gen-dedup-55c7c53d347250f50246419757c4379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91749" y="6515100"/>
            <a:ext cx="247802" cy="2478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9144" y="6478524"/>
            <a:ext cx="55440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que nadie tenga que acordarse de llamar</a:t>
            </a:r>
            <a:endParaRPr lang="en-US" sz="1800" dirty="0"/>
          </a:p>
        </p:txBody>
      </p:sp>
      <p:pic>
        <p:nvPicPr>
          <p:cNvPr id="17" name="Image 4" descr="gen-dedup-6d01e2857dc2e17de7ee4120f099bf3d.jpg">    </p:cNvPr>
          <p:cNvPicPr>
            <a:picLocks noChangeAspect="1"/>
          </p:cNvPicPr>
          <p:nvPr/>
        </p:nvPicPr>
        <p:blipFill>
          <a:blip r:embed="rId5"/>
          <a:srcRect l="-136" r="-136" t="0" b="0"/>
          <a:stretch/>
        </p:blipFill>
        <p:spPr>
          <a:xfrm>
            <a:off x="15824606" y="761695"/>
            <a:ext cx="1324051" cy="476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43000" y="3562502"/>
            <a:ext cx="8763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Farmacias que usan recordatorios automáticos reportan:</a:t>
            </a:r>
            <a:endParaRPr lang="en-US" sz="40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5181905"/>
            <a:ext cx="3696005" cy="1619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00" b="1" spc="-51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2700" dirty="0"/>
          </a:p>
        </p:txBody>
      </p:sp>
      <p:sp>
        <p:nvSpPr>
          <p:cNvPr id="20" name="Text 13"/>
          <p:cNvSpPr txBox="1"/>
          <p:nvPr/>
        </p:nvSpPr>
        <p:spPr>
          <a:xfrm>
            <a:off x="5123383" y="5753405"/>
            <a:ext cx="948233" cy="1019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59E0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</a:t>
            </a:r>
            <a:endParaRPr lang="en-US" sz="6000" dirty="0"/>
          </a:p>
        </p:txBody>
      </p:sp>
      <p:sp>
        <p:nvSpPr>
          <p:cNvPr id="21" name="Text 14"/>
          <p:cNvSpPr txBox="1"/>
          <p:nvPr/>
        </p:nvSpPr>
        <p:spPr>
          <a:xfrm>
            <a:off x="6006694" y="5181905"/>
            <a:ext cx="3629254" cy="1619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00" b="1" spc="-51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</a:t>
            </a:r>
            <a:endParaRPr lang="en-US" sz="127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6991502"/>
            <a:ext cx="8763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ventas recurrentes</a:t>
            </a:r>
            <a:pPr algn="l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pacientes crónicos.</a:t>
            </a:r>
            <a:endParaRPr lang="en-US" sz="2400" dirty="0"/>
          </a:p>
        </p:txBody>
      </p:sp>
      <p:sp>
        <p:nvSpPr>
          <p:cNvPr id="23" name="Shape 16"/>
          <p:cNvSpPr/>
          <p:nvPr/>
        </p:nvSpPr>
        <p:spPr>
          <a:xfrm>
            <a:off x="1143000" y="2924251"/>
            <a:ext cx="3353105" cy="400507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143000" y="2924251"/>
            <a:ext cx="33531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01600" rIns="228600" bIns="101600" rtlCol="0" anchor="ctr"/>
          <a:lstStyle/>
          <a:p>
            <a:pPr algn="ctr" indent="0" marL="0">
              <a:buNone/>
            </a:pPr>
            <a:r>
              <a:rPr lang="en-US" sz="1200" b="1" spc="18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IMPACTO EN FACTURACIÓN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9144000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NÚMERO CLAVE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4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c641e6d243e74169a25969fc26c8efc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195" y="2095805"/>
            <a:ext cx="6667805" cy="6096305"/>
          </a:xfrm>
          <a:prstGeom prst="roundRect">
            <a:avLst>
              <a:gd name="adj" fmla="val 469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39598" y="2676449"/>
            <a:ext cx="1143000" cy="771754"/>
          </a:xfrm>
          <a:prstGeom prst="roundRect">
            <a:avLst>
              <a:gd name="adj" fmla="val 5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7" name="Image 1" descr="gen-dedup-a2474bb400823fa5e0feac224702b8a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506602" y="2757830"/>
            <a:ext cx="609905" cy="6099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16107" y="4190695"/>
            <a:ext cx="57918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¿Empezamos?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10916107" y="4867351"/>
            <a:ext cx="57918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la automatización sin riesgo alguno en tu farmacia independiente.</a:t>
            </a:r>
            <a:endParaRPr lang="en-US" sz="1500" dirty="0"/>
          </a:p>
        </p:txBody>
      </p:sp>
      <p:pic>
        <p:nvPicPr>
          <p:cNvPr id="10" name="Image 2" descr="gen-dedup-5b27f237718ce3709700f72ac9afdc1f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10916107" y="6105449"/>
            <a:ext cx="5790895" cy="15051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201400" y="6344107"/>
            <a:ext cx="5220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105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 DIRECTO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1201400" y="6601054"/>
            <a:ext cx="52203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4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Contáctanos: 809-706-6547</a:t>
            </a:r>
            <a:endParaRPr lang="en-US" sz="1800" dirty="0"/>
          </a:p>
        </p:txBody>
      </p:sp>
      <p:pic>
        <p:nvPicPr>
          <p:cNvPr id="13" name="Image 3" descr="gen-dedup-9e76b7b092b498aacfaac5a413b716ac.png">    </p:cNvPr>
          <p:cNvPicPr>
            <a:picLocks noChangeAspect="1"/>
          </p:cNvPicPr>
          <p:nvPr/>
        </p:nvPicPr>
        <p:blipFill>
          <a:blip r:embed="rId4"/>
          <a:srcRect l="-2078" r="-2078" t="0" b="0"/>
          <a:stretch/>
        </p:blipFill>
        <p:spPr>
          <a:xfrm>
            <a:off x="11201400" y="7019849"/>
            <a:ext cx="5219395" cy="91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201400" y="7172554"/>
            <a:ext cx="52203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spc="68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EduNexus Plus</a:t>
            </a:r>
            <a:endParaRPr lang="en-US" sz="1300" dirty="0"/>
          </a:p>
        </p:txBody>
      </p:sp>
      <p:pic>
        <p:nvPicPr>
          <p:cNvPr id="15" name="Image 4" descr="gen-dedup-6d01e2857dc2e17de7ee4120f099bf3d.jpg">    </p:cNvPr>
          <p:cNvPicPr>
            <a:picLocks noChangeAspect="1"/>
          </p:cNvPicPr>
          <p:nvPr/>
        </p:nvPicPr>
        <p:blipFill>
          <a:blip r:embed="rId5"/>
          <a:srcRect l="-136" r="-136" t="0" b="0"/>
          <a:stretch/>
        </p:blipFill>
        <p:spPr>
          <a:xfrm>
            <a:off x="15824606" y="761695"/>
            <a:ext cx="1324051" cy="4764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43000" y="3214116"/>
            <a:ext cx="8572500" cy="156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30 días de prueba, sin compromiso</a:t>
            </a:r>
            <a:endParaRPr lang="en-US" sz="5100" dirty="0"/>
          </a:p>
        </p:txBody>
      </p:sp>
      <p:sp>
        <p:nvSpPr>
          <p:cNvPr id="17" name="Shape 10"/>
          <p:cNvSpPr/>
          <p:nvPr/>
        </p:nvSpPr>
        <p:spPr>
          <a:xfrm>
            <a:off x="1143000" y="5196535"/>
            <a:ext cx="457200" cy="4572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143000" y="5196535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828800" y="5196535"/>
            <a:ext cx="78867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instalamos esta semana</a:t>
            </a:r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dejándolo totalmente funcional para tus clientes.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1143000" y="6225235"/>
            <a:ext cx="457200" cy="4572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1143000" y="6225235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828800" y="6225235"/>
            <a:ext cx="823965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necesitamos tu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Business</a:t>
            </a:r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tu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medicamentos</a:t>
            </a:r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1143000" y="6968642"/>
            <a:ext cx="457200" cy="4572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143000" y="6968642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828800" y="6968642"/>
            <a:ext cx="78867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en 30 días no ves resultados reales,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cancelas y ya</a:t>
            </a:r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Sin dar explicaciones.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1143000" y="2575865"/>
            <a:ext cx="3781044" cy="400507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43000" y="2575865"/>
            <a:ext cx="37819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01600" rIns="228600" bIns="101600" rtlCol="0" anchor="ctr"/>
          <a:lstStyle/>
          <a:p>
            <a:pPr algn="ctr" indent="0" marL="0">
              <a:buNone/>
            </a:pPr>
            <a:r>
              <a:rPr lang="en-US" sz="1200" b="1" spc="18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GARANTÍA TOTAL DE RIESGO CERO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9144000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CIERRE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2026-07-01T16:09:26Z</dcterms:created>
  <dcterms:modified xsi:type="dcterms:W3CDTF">2026-07-01T16:09:26Z</dcterms:modified>
</cp:coreProperties>
</file>